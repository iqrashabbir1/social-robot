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3A6B"/>
                </a:solidFill>
                <a:latin typeface="Arial"/>
              </a:rPr>
              <a:t>Accuracy (%) — Internal vs External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Internal (RAVDESS)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SVM</c:v>
                  </c:pt>
                  <c:pt idx="1">
                    <c:v>RF</c:v>
                  </c:pt>
                  <c:pt idx="2">
                    <c:v>XGBoost</c:v>
                  </c:pt>
                  <c:pt idx="3">
                    <c:v>MLP</c:v>
                  </c:pt>
                  <c:pt idx="4">
                    <c:v>kNN</c:v>
                  </c:pt>
                  <c:pt idx="5">
                    <c:v>NB</c:v>
                  </c:pt>
                  <c:pt idx="6">
                    <c:v>LR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87.2</c:v>
                </c:pt>
                <c:pt idx="1">
                  <c:v>84.6</c:v>
                </c:pt>
                <c:pt idx="2">
                  <c:v>85.9</c:v>
                </c:pt>
                <c:pt idx="3">
                  <c:v>82.3</c:v>
                </c:pt>
                <c:pt idx="4">
                  <c:v>71.4</c:v>
                </c:pt>
                <c:pt idx="5">
                  <c:v>63.8</c:v>
                </c:pt>
                <c:pt idx="6">
                  <c:v>76.1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External (CREMA-D)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SVM</c:v>
                  </c:pt>
                  <c:pt idx="1">
                    <c:v>RF</c:v>
                  </c:pt>
                  <c:pt idx="2">
                    <c:v>XGBoost</c:v>
                  </c:pt>
                  <c:pt idx="3">
                    <c:v>MLP</c:v>
                  </c:pt>
                  <c:pt idx="4">
                    <c:v>kNN</c:v>
                  </c:pt>
                  <c:pt idx="5">
                    <c:v>NB</c:v>
                  </c:pt>
                  <c:pt idx="6">
                    <c:v>LR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54.1</c:v>
                </c:pt>
                <c:pt idx="1">
                  <c:v>58.3</c:v>
                </c:pt>
                <c:pt idx="2">
                  <c:v>56.7</c:v>
                </c:pt>
                <c:pt idx="3">
                  <c:v>52.9</c:v>
                </c:pt>
                <c:pt idx="4">
                  <c:v>44.2</c:v>
                </c:pt>
                <c:pt idx="5">
                  <c:v>41.6</c:v>
                </c:pt>
                <c:pt idx="6">
                  <c:v>49.3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introduces PAEMDT — a research framework integrating multimodal perception, digital twin simulation, knowledge-graph grounded explainability, HITL safety routing, and privacy-aware deployment for cognitive caregiving robots. This is NOT a clinical product; it is a reproducible research and staged validation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the world is ageing rapidly. Dementia and cognitive decline create enormous caregiving demand that human labour alone cannot meet. SARs are a promising complement — but current systems are not ready for deployment because they lack robustness, explainability, and clinical-grade safety mechanisms.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each failure mode. Emphasise that these are systemic, co-occurring gaps — not isolated bugs. A system that fixes one (e.g., adds an explanation layer) but ignores the others (privacy, calibration, domain shift) is still not deployment-ready.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literature gaps column first, then show how PAEMDT's positioning directly addresses each gap. The key differentiator is co-design: all five concerns addressed together rather than bolted on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PAEMDT is a framework, not a deployed robot. Each pillar exists in prior literature separately; the contribution is their co-design into one coherent, staged-validation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zone sequentially: data enters Zone 1 already anonymised; Zone 2 fuses modalities; Zone 3 maintains a simulation mirror; Zone 4 generates explanations; Zone 5 decides whether the robot acts, alerts, or escalates. Emphasise the feedback loop from Zone 3 back to Zones 2 and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mechanistic slide. Cross-attention: both modalities enter; a weighted representation exits. DT: real sensor data enters; simulation divergence triggers recalibration. KG+LLM: a class label enters; a sentence exits. HITL: a confidence score enters; a routing decision exits. Privacy: raw biometrics enter; anonymised tensors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don't need to derive these live. Cross-attention: cross-modal weighting. RR: quantifies domain-shift risk (all classifiers show RR &gt; 1.4). CCS: integrates heterogeneous signals into one actionable score. ECE: calibration metric (lower is better). HITL rule: formalises the escalation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design choice: CREMA-D is held out entirely for external testing. The model never sees CREMA-D during training. Seven classifiers range from simple baselines (NB, LR) through ensemble methods (RF, GB) to a neural model (MLP), plus SVM as the classical strong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finding: SVM achieves 87% internally but only 54% on CREMA-D (RR = 1.61) — a 33-point drop. All RR values exceed 1.4, confirming strong domain shift across all classifiers. Internal accuracy is an optimistic estimate of real-world performance. PAEMDT's staged validation roadmap is motivated precisely by this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complementary analyses: Ablation confirms all zones contribute. Calibration shows SVM is most trustworthy for HITL thresholding. Robustness reveals MLP is fragile under sensor noise; ensembles preferred. Privacy–Utility–Latency shows 3% accuracy drop and 18ms latency — acceptable for a caregiving monitoring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where PAEMDT stands: Stage 1 complete; Stage 2 partially done (CREMA-D done, broader datasets and real sensors still needed). Stage 3 does not yet exist. This transparency is a strength — it shows the research is honest about its evidence maturity and has a clear path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these limitations openly — they are a sign of research rigour. Most important: full multimodal video fusion experiments are still pending; current results are audio-only. A supervisor will appreciate this candour. For each limitation, a mitigation path exists — mention those briefly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PAEMDT contributes a unified framework — co-design is the novelty. The domain-shift result is the most important empirical finding. Future work closes three gaps: (1) full multimodal experiments, (2) real patient data, (3) clinical deployment infrastructure. Thank the supervisor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926080" cy="507034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9144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PAEMDT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474720"/>
            <a:ext cx="502920" cy="502920"/>
          </a:xfrm>
          <a:prstGeom prst="oval">
            <a:avLst/>
          </a:prstGeom>
          <a:solidFill>
            <a:srgbClr val="E8A020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3840480"/>
            <a:ext cx="320040" cy="320040"/>
          </a:xfrm>
          <a:prstGeom prst="oval">
            <a:avLst/>
          </a:prstGeom>
          <a:solidFill>
            <a:srgbClr val="CADCFC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45920" y="3291840"/>
            <a:ext cx="228600" cy="228600"/>
          </a:xfrm>
          <a:prstGeom prst="oval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82296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PAEMDT: A Privacy-Aware Explainable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Digital-Twin Framework for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Caregiving Robots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108960" y="2697480"/>
            <a:ext cx="5669280" cy="2743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28346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Asim Amin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32004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Review · June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44805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Framework Presentation  |  Not a Clinical Product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Motivation: The Ageing Crisis and Caregiving Gap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2651760" cy="13716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686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aged 60+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2050 (WHO)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822960"/>
            <a:ext cx="2651760" cy="1371600"/>
          </a:xfrm>
          <a:prstGeom prst="rect">
            <a:avLst/>
          </a:prstGeom>
          <a:solidFill>
            <a:srgbClr val="2E6DA4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8686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1508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 cases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(2023)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822960"/>
            <a:ext cx="2651760" cy="1371600"/>
          </a:xfrm>
          <a:prstGeom prst="rect">
            <a:avLst/>
          </a:prstGeom>
          <a:solidFill>
            <a:srgbClr val="9A341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8686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~$1.3T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1508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dementia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(USD, 2023)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gap: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shortfall projected to reach 13 million globally by 2030.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decline hallmarks: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dysregulation, speech impairment, gait anomalies — all observable via sensor data.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Socially Assistive Robots (SARs) can complement human caregivers for monitoring, engagement, and early-warning intervention.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SARs lack the multimodal perception, trustworthy explainability, and clinical safety mechanisms needed for real-world deployment.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Problem: What Current SAR Systems Lack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64008" cy="123444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96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 Perception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process audio OR video — not both. Cross-modal fusion that mirrors human holistic interpretation is absent.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64008" cy="123444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96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Decisions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2070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classifiers produce opaque outputs. Clinicians cannot audit or trust decisions without interpretable explanations.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94560"/>
            <a:ext cx="64008" cy="123444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677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Escalation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5786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either act autonomously or defer all decisions to humans. There is no principled HITL routing tied to model uncertainty.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19456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194560"/>
            <a:ext cx="64008" cy="123444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2677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Disregard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5786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biometric data (face, voice, gait) is rarely anonymised before processing. Regulatory compliance (GDPR, HIPAA) is not addressed.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56616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566160"/>
            <a:ext cx="64008" cy="123444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39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Twin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9502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made on real-time streams without a simulation layer for safe scenario testing or counterfactual reasoning.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56616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566160"/>
            <a:ext cx="64008" cy="123444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639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External Validation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9502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training datasets is reported; cross-domain generalisation and calibration under distribution shift are almost never measured.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Fragmented Architectures and Missing Validation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4023360" cy="3474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229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Findings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fusion studied in isolation — no integration with KGs or LLMs.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limited to saliency maps; no domain-ontology grounding.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addressed separately (federated, DP) — never co-designed with perception.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9626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routing ad hoc or absent — no uncertainty-threshold-based escalation.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52958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confined to internal benchmarks; cross-dataset generalisation rarely reported.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0965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 unifies all five concerns in a single coherent architecture.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822960"/>
            <a:ext cx="4023360" cy="3474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8229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PAEMDT Positioning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36592" y="1261872"/>
            <a:ext cx="201168" cy="201168"/>
          </a:xfrm>
          <a:prstGeom prst="oval">
            <a:avLst/>
          </a:prstGeom>
          <a:solidFill>
            <a:srgbClr val="E8A020"/>
          </a:solidFill>
          <a:ln/>
        </p:spPr>
      </p:sp>
      <p:sp>
        <p:nvSpPr>
          <p:cNvPr id="18" name="Text 16"/>
          <p:cNvSpPr/>
          <p:nvPr/>
        </p:nvSpPr>
        <p:spPr>
          <a:xfrm>
            <a:off x="4992624" y="12070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architecture: Five zones co-designed from the ground up.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36592" y="1947672"/>
            <a:ext cx="201168" cy="201168"/>
          </a:xfrm>
          <a:prstGeom prst="oval">
            <a:avLst/>
          </a:prstGeom>
          <a:solidFill>
            <a:srgbClr val="E8A020"/>
          </a:solidFill>
          <a:ln/>
        </p:spPr>
      </p:sp>
      <p:sp>
        <p:nvSpPr>
          <p:cNvPr id="20" name="Text 18"/>
          <p:cNvSpPr/>
          <p:nvPr/>
        </p:nvSpPr>
        <p:spPr>
          <a:xfrm>
            <a:off x="4992624" y="18928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+ LLM explanations: Causally grounded, human-readable rationales.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36592" y="2633472"/>
            <a:ext cx="201168" cy="201168"/>
          </a:xfrm>
          <a:prstGeom prst="oval">
            <a:avLst/>
          </a:prstGeom>
          <a:solidFill>
            <a:srgbClr val="E8A020"/>
          </a:solidFill>
          <a:ln/>
        </p:spPr>
      </p:sp>
      <p:sp>
        <p:nvSpPr>
          <p:cNvPr id="22" name="Text 20"/>
          <p:cNvSpPr/>
          <p:nvPr/>
        </p:nvSpPr>
        <p:spPr>
          <a:xfrm>
            <a:off x="4992624" y="25786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 HITL: Safety escalation tied to confidence thresholds.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36592" y="3319272"/>
            <a:ext cx="201168" cy="201168"/>
          </a:xfrm>
          <a:prstGeom prst="oval">
            <a:avLst/>
          </a:prstGeom>
          <a:solidFill>
            <a:srgbClr val="E8A020"/>
          </a:solidFill>
          <a:ln/>
        </p:spPr>
      </p:sp>
      <p:sp>
        <p:nvSpPr>
          <p:cNvPr id="24" name="Text 22"/>
          <p:cNvSpPr/>
          <p:nvPr/>
        </p:nvSpPr>
        <p:spPr>
          <a:xfrm>
            <a:off x="4992624" y="32644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design: k-anonymity and DP embedded in Zone 1.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36592" y="4005072"/>
            <a:ext cx="201168" cy="201168"/>
          </a:xfrm>
          <a:prstGeom prst="oval">
            <a:avLst/>
          </a:prstGeom>
          <a:solidFill>
            <a:srgbClr val="E8A020"/>
          </a:solidFill>
          <a:ln/>
        </p:spPr>
      </p:sp>
      <p:sp>
        <p:nvSpPr>
          <p:cNvPr id="26" name="Text 24"/>
          <p:cNvSpPr/>
          <p:nvPr/>
        </p:nvSpPr>
        <p:spPr>
          <a:xfrm>
            <a:off x="4992624" y="39502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validation: Internal → cross-domain → clinical roadmap.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PAEMDT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77240"/>
            <a:ext cx="8503920" cy="9144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PAEMDT is a reproducible, privacy-aware, explainable multimodal digital-twin research framework for validating cognitive caregiving robot behaviour prior to clinical deployment.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1600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28800"/>
            <a:ext cx="1600200" cy="4114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828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8328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Fusion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2697480"/>
            <a:ext cx="1463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+ video fused via cross-attention transformer.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11680" y="1828800"/>
            <a:ext cx="1600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1828800"/>
            <a:ext cx="1600200" cy="4114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1828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75688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75688" y="2697480"/>
            <a:ext cx="1463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patient state for safe counterfactual testing.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49040" y="1828800"/>
            <a:ext cx="1600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828800"/>
            <a:ext cx="1600200" cy="4114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1828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13048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+ LLM XAI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13048" y="2697480"/>
            <a:ext cx="1463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Ontology-grounded, clinician-auditable explanations.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0" y="1828800"/>
            <a:ext cx="1600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1828800"/>
            <a:ext cx="1600200" cy="4114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1828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50408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Routing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50408" y="2697480"/>
            <a:ext cx="1463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Uncertainty-threshold escalation to human oversight.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23760" y="1828800"/>
            <a:ext cx="1600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23760" y="1828800"/>
            <a:ext cx="1600200" cy="4114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1828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87768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Layer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87768" y="2697480"/>
            <a:ext cx="1463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k-anonymity &amp; differential privacy at input.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contribution: integration — not any single component — is the novelty.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Framework Architecture: Five Zones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77240"/>
            <a:ext cx="1234440" cy="68580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77724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91640" y="777240"/>
            <a:ext cx="71323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91640" y="777240"/>
            <a:ext cx="54864" cy="6858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8229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Privacy-Aware Input: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10642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sensor streams → k-anonymity masking → differential privacy noise → anonymised feature tensors.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5236" y="1463040"/>
            <a:ext cx="36576" cy="10972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600200"/>
            <a:ext cx="1234440" cy="685800"/>
          </a:xfrm>
          <a:prstGeom prst="rect">
            <a:avLst/>
          </a:prstGeom>
          <a:solidFill>
            <a:srgbClr val="1A6B3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160020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91640" y="1600200"/>
            <a:ext cx="71323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91640" y="1600200"/>
            <a:ext cx="54864" cy="68580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16459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Perception: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192938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CNN + Video ViT encoders → cross-attention fusion → joint emotion/state representation.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5236" y="2286000"/>
            <a:ext cx="36576" cy="10972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2423160"/>
            <a:ext cx="1234440" cy="685800"/>
          </a:xfrm>
          <a:prstGeom prst="rect">
            <a:avLst/>
          </a:prstGeom>
          <a:solidFill>
            <a:srgbClr val="6E2C0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242316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91640" y="2423160"/>
            <a:ext cx="71323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691640" y="2423160"/>
            <a:ext cx="54864" cy="685800"/>
          </a:xfrm>
          <a:prstGeom prst="rect">
            <a:avLst/>
          </a:prstGeom>
          <a:solidFill>
            <a:srgbClr val="6E2C00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0" y="24688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2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Engine: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275234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patient &amp; robot state; counterfactual scenario generation; safe protocol testing.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5236" y="3108960"/>
            <a:ext cx="36576" cy="10972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246120"/>
            <a:ext cx="1234440" cy="685800"/>
          </a:xfrm>
          <a:prstGeom prst="rect">
            <a:avLst/>
          </a:prstGeom>
          <a:solidFill>
            <a:srgbClr val="4A235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" y="32461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91640" y="3246120"/>
            <a:ext cx="71323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691640" y="3246120"/>
            <a:ext cx="54864" cy="685800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0" y="32918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+ LLM Explanation: 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28800" y="357530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output → KG ontology lookup → LLM rationale generation → auditable clinical text.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5236" y="3931920"/>
            <a:ext cx="36576" cy="10972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069080"/>
            <a:ext cx="1234440" cy="685800"/>
          </a:xfrm>
          <a:prstGeom prst="rect">
            <a:avLst/>
          </a:prstGeom>
          <a:solidFill>
            <a:srgbClr val="7B241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0040" y="406908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691640" y="4069080"/>
            <a:ext cx="71323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691640" y="4069080"/>
            <a:ext cx="54864" cy="685800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0" y="41148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Safety &amp; Action: 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828800" y="439826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+ uncertainty → routing: autonomous action | clinician alert | escalation.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828800" y="480060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(Zone 3) provides feedback loops to all other zones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Logic: Fusion · Digital Twin · KG+LLM · HITL · Privacy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71323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7955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Fusion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1088136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encoder Q × Video encoder KV → attention map captures cross-modal dependencies. Learned weights indicate which modality is more informative per sample.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64008" cy="71323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6459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Engine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" y="193852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real patient state Sₜ with simulated state Ŝₜ. Runs counterfactual branches (e.g. 'what if emotion score drops 20%?') without risking the real patient.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478024"/>
            <a:ext cx="64008" cy="713232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4963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KG-Grounded LLM Explanation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" y="278892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label → KG traversal (dementia-care ontology) → retrieved causal chain → LLM prompt → human-readable rationale. Each word traceable to ontology nodes.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328416"/>
            <a:ext cx="64008" cy="713232"/>
          </a:xfrm>
          <a:prstGeom prst="rect">
            <a:avLst/>
          </a:prstGeom>
          <a:solidFill>
            <a:srgbClr val="6E2C00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33467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2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Routing Logic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" y="363931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confidence &gt;= θ_high → autonomous action. If θ_low &lt;= confidence &lt; θ_high → alert clinician. If confidence &lt; θ_low → full escalation + suspend action.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178808"/>
            <a:ext cx="64008" cy="713232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41970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Layer Mechanics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" y="4489704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k-anonymity: features generalised so each sample is indistinguishable from &gt;= k-1 others. DP noise (epsilon-bounded Laplace) added to model gradients. Federated-learning API ready.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Formulation Summary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7724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18288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7772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40280" y="822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Attn(Q,K,V) = softmax(QK^T / sqrt(d_k)) * V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40280" y="11978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from audio encoder; K,V from video encoder. Output is a fused representation weighted by cross-modal relevance.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627632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27632"/>
            <a:ext cx="18288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62763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(RR)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40280" y="16733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 = Acc_internal / Acc_external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40280" y="204825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performance degradation under domain shift. RR &gt;&gt; 1 signals overfit to training domain. Ideal RR ≈ 1.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478024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78024"/>
            <a:ext cx="18288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478024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(CCS)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40280" y="25237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CCS = α·E + β·B + γ·C  (α+β+γ=1)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40280" y="28986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of Emotion E, Behaviour B, Cognitive C scores. Thresholds on CCS trigger HITL routing.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328416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328416"/>
            <a:ext cx="18288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328416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(ECE)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40280" y="33741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ECE = Σ (|Bₘ|/n) · |acc(Bₘ) − conf(Bₘ)|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240280" y="3749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alignment between model confidence and actual accuracy across confidence bins. Low ECE = well-calibrated.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178808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178808"/>
            <a:ext cx="18288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417880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Rule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40280" y="4224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&gt;= θH → auto  |  θL &lt;= p &lt; θH → alert  |  p &lt; θL → escalate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240280" y="45994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posterior confidence of top class. θH and θL are tunable thresholds set by clinical protocol.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Setup: Datasets and Classifiers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77240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4023360" cy="3474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7772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07008"/>
          <a:ext cx="3749040" cy="685800"/>
        </p:xfrm>
        <a:graphic>
          <a:graphicData uri="http://schemas.openxmlformats.org/drawingml/2006/table">
            <a:tbl>
              <a:tblPr/>
              <a:tblGrid>
                <a:gridCol w="937260"/>
                <a:gridCol w="937260"/>
                <a:gridCol w="937260"/>
                <a:gridCol w="93726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RAVDESS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train/test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CREMA-D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domain shift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11480" y="239572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on RAVDESS. CREMA-D held out for domain-shift testing only — zero training overlap.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30175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MFCCs (40 coeff.), mel-spectrograms, pitch, ZCR, chroma. z-score normalisation applied.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36393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identity suppressed via k-anonymity (k=5) before feature extraction.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777240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777240"/>
            <a:ext cx="4023360" cy="3474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4" name="Text 11"/>
          <p:cNvSpPr/>
          <p:nvPr/>
        </p:nvSpPr>
        <p:spPr>
          <a:xfrm>
            <a:off x="4727448" y="7772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Classifiers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36592" y="1261872"/>
            <a:ext cx="182880" cy="182880"/>
          </a:xfrm>
          <a:prstGeom prst="oval">
            <a:avLst/>
          </a:prstGeom>
          <a:solidFill>
            <a:srgbClr val="E8A020"/>
          </a:solidFill>
          <a:ln/>
        </p:spPr>
      </p:sp>
      <p:sp>
        <p:nvSpPr>
          <p:cNvPr id="16" name="Text 13"/>
          <p:cNvSpPr/>
          <p:nvPr/>
        </p:nvSpPr>
        <p:spPr>
          <a:xfrm>
            <a:off x="4992624" y="12161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 kernel)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36592" y="1737360"/>
            <a:ext cx="182880" cy="182880"/>
          </a:xfrm>
          <a:prstGeom prst="oval">
            <a:avLst/>
          </a:prstGeom>
          <a:solidFill>
            <a:srgbClr val="E8A020"/>
          </a:solidFill>
          <a:ln/>
        </p:spPr>
      </p:sp>
      <p:sp>
        <p:nvSpPr>
          <p:cNvPr id="18" name="Text 15"/>
          <p:cNvSpPr/>
          <p:nvPr/>
        </p:nvSpPr>
        <p:spPr>
          <a:xfrm>
            <a:off x="4992624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(500 trees)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36592" y="2212848"/>
            <a:ext cx="182880" cy="182880"/>
          </a:xfrm>
          <a:prstGeom prst="oval">
            <a:avLst/>
          </a:prstGeom>
          <a:solidFill>
            <a:srgbClr val="E8A020"/>
          </a:solidFill>
          <a:ln/>
        </p:spPr>
      </p:sp>
      <p:sp>
        <p:nvSpPr>
          <p:cNvPr id="20" name="Text 17"/>
          <p:cNvSpPr/>
          <p:nvPr/>
        </p:nvSpPr>
        <p:spPr>
          <a:xfrm>
            <a:off x="4992624" y="21671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(XGBoost)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36592" y="2688336"/>
            <a:ext cx="182880" cy="182880"/>
          </a:xfrm>
          <a:prstGeom prst="oval">
            <a:avLst/>
          </a:prstGeom>
          <a:solidFill>
            <a:srgbClr val="E8A020"/>
          </a:solidFill>
          <a:ln/>
        </p:spPr>
      </p:sp>
      <p:sp>
        <p:nvSpPr>
          <p:cNvPr id="22" name="Text 19"/>
          <p:cNvSpPr/>
          <p:nvPr/>
        </p:nvSpPr>
        <p:spPr>
          <a:xfrm>
            <a:off x="4992624" y="26426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Neural Network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736592" y="3163824"/>
            <a:ext cx="182880" cy="182880"/>
          </a:xfrm>
          <a:prstGeom prst="oval">
            <a:avLst/>
          </a:prstGeom>
          <a:solidFill>
            <a:srgbClr val="E8A020"/>
          </a:solidFill>
          <a:ln/>
        </p:spPr>
      </p:sp>
      <p:sp>
        <p:nvSpPr>
          <p:cNvPr id="24" name="Text 21"/>
          <p:cNvSpPr/>
          <p:nvPr/>
        </p:nvSpPr>
        <p:spPr>
          <a:xfrm>
            <a:off x="4992624" y="31181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736592" y="3639312"/>
            <a:ext cx="182880" cy="182880"/>
          </a:xfrm>
          <a:prstGeom prst="oval">
            <a:avLst/>
          </a:prstGeom>
          <a:solidFill>
            <a:srgbClr val="E8A020"/>
          </a:solidFill>
          <a:ln/>
        </p:spPr>
      </p:sp>
      <p:sp>
        <p:nvSpPr>
          <p:cNvPr id="26" name="Text 23"/>
          <p:cNvSpPr/>
          <p:nvPr/>
        </p:nvSpPr>
        <p:spPr>
          <a:xfrm>
            <a:off x="4992624" y="35935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36592" y="4114800"/>
            <a:ext cx="182880" cy="182880"/>
          </a:xfrm>
          <a:prstGeom prst="oval">
            <a:avLst/>
          </a:prstGeom>
          <a:solidFill>
            <a:srgbClr val="E8A020"/>
          </a:solidFill>
          <a:ln/>
        </p:spPr>
      </p:sp>
      <p:sp>
        <p:nvSpPr>
          <p:cNvPr id="28" name="Text 25"/>
          <p:cNvSpPr/>
          <p:nvPr/>
        </p:nvSpPr>
        <p:spPr>
          <a:xfrm>
            <a:off x="4992624" y="4069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736592" y="4617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Accuracy, F1-macro, ECE, Robustness Ratio, HITL routing rate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Results: Internal Accuracy vs External Domain Degradation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8A020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320040" y="77724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77724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0" y="777240"/>
            <a:ext cx="2606040" cy="3474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5"/>
          <p:cNvSpPr/>
          <p:nvPr/>
        </p:nvSpPr>
        <p:spPr>
          <a:xfrm>
            <a:off x="6281928" y="777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Ratio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36208" y="1188720"/>
            <a:ext cx="2560320" cy="3474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0" name="Text 7"/>
          <p:cNvSpPr/>
          <p:nvPr/>
        </p:nvSpPr>
        <p:spPr>
          <a:xfrm>
            <a:off x="6291072" y="11887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16368" y="11887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6208" y="1572768"/>
            <a:ext cx="2560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291072" y="15727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16368" y="157276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1.61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36208" y="1956816"/>
            <a:ext cx="256032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6291072" y="195681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516368" y="195681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36208" y="2340864"/>
            <a:ext cx="2560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291072" y="23408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516368" y="234086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1.51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36208" y="2724912"/>
            <a:ext cx="256032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19"/>
          <p:cNvSpPr/>
          <p:nvPr/>
        </p:nvSpPr>
        <p:spPr>
          <a:xfrm>
            <a:off x="6291072" y="27249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516368" y="27249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1.56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36208" y="3108960"/>
            <a:ext cx="2560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6291072" y="31089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516368" y="31089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36208" y="3493008"/>
            <a:ext cx="256032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5"/>
          <p:cNvSpPr/>
          <p:nvPr/>
        </p:nvSpPr>
        <p:spPr>
          <a:xfrm>
            <a:off x="6291072" y="34930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516368" y="349300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36208" y="3877056"/>
            <a:ext cx="2560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6291072" y="387705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516368" y="387705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1.54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20040" y="468172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&gt; 1.5 = significant domain shift (red). Accuracy alone is misleading.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· Calibration · Robustness · Privacy–Utility–Latency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7724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4114800" cy="30175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77724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12471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privacy layer: +1.8% acc, but identity leakage risk rises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42646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HITL routing: autonomous errors reach unsafe states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7282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KG explanation: clinician trust score drops (qualitative)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02996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digital twin: no safe scenario testing possible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3317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zones are load-bearing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77724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777240"/>
            <a:ext cx="4114800" cy="30175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77724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(ECE)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12471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ECE: 0.09  (best calibrated)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42646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ECE: 0.13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17282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ECE: 0.12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202996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ECE: 0.18  (overconfident)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23317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ECE critical for reliable HITL triggering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26080"/>
            <a:ext cx="4114800" cy="30175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92608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(Gaussian Noise)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2735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sigma=0.01: Delta-Acc &lt; 1% (all classifiers)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357530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sigma=0.05: Delta-Acc 2-5% (SVM most stable)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387705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sigma=0.10: Delta-Acc 6-14% (MLP most fragile)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41788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XGBoost: moderate degradation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44805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preferred; MLP needs input sanitisation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292608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926080"/>
            <a:ext cx="4114800" cy="301752"/>
          </a:xfrm>
          <a:prstGeom prst="rect">
            <a:avLst/>
          </a:prstGeom>
          <a:solidFill>
            <a:srgbClr val="6E2C00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92608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Privacy–Utility–Latency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32735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k-anonymity (k=5): -1.2% accuracy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357530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noise (eps=1.0): -2.1% accuracy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387705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stack: -3.0% accuracy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41788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 overhead: +18 ms/sample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44805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2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cost is modest and clinically justifiable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Maturity and Validation Roadmap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77240"/>
            <a:ext cx="26974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269748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772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(Current)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Benchmark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682496"/>
            <a:ext cx="1828800" cy="237744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6824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" y="2084832"/>
            <a:ext cx="164592" cy="16459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19933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RAVDESS 80/20 split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" y="2542032"/>
            <a:ext cx="164592" cy="16459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4505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classifiers evaluated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" y="2999232"/>
            <a:ext cx="164592" cy="16459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2907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ECE, RR metrics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" y="3456432"/>
            <a:ext cx="164592" cy="16459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3649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" y="3913632"/>
            <a:ext cx="164592" cy="16459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38221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Privacy-latency trade-off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777240"/>
            <a:ext cx="26974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777240"/>
            <a:ext cx="269748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7772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(Partial)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135331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Validation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37560" y="1682496"/>
            <a:ext cx="1828800" cy="237744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16824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55848" y="2084832"/>
            <a:ext cx="164592" cy="164592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28" name="Text 26"/>
          <p:cNvSpPr/>
          <p:nvPr/>
        </p:nvSpPr>
        <p:spPr>
          <a:xfrm>
            <a:off x="3593592" y="19933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CREMA-D external test (done)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55848" y="2542032"/>
            <a:ext cx="164592" cy="164592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30" name="Text 28"/>
          <p:cNvSpPr/>
          <p:nvPr/>
        </p:nvSpPr>
        <p:spPr>
          <a:xfrm>
            <a:off x="3593592" y="24505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corpora needed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55848" y="2999232"/>
            <a:ext cx="164592" cy="164592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32" name="Text 30"/>
          <p:cNvSpPr/>
          <p:nvPr/>
        </p:nvSpPr>
        <p:spPr>
          <a:xfrm>
            <a:off x="3593592" y="2907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diversity check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55848" y="3456432"/>
            <a:ext cx="164592" cy="164592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34" name="Text 32"/>
          <p:cNvSpPr/>
          <p:nvPr/>
        </p:nvSpPr>
        <p:spPr>
          <a:xfrm>
            <a:off x="3593592" y="33649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sensor stream pilot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55848" y="3913632"/>
            <a:ext cx="164592" cy="164592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36" name="Text 34"/>
          <p:cNvSpPr/>
          <p:nvPr/>
        </p:nvSpPr>
        <p:spPr>
          <a:xfrm>
            <a:off x="3593592" y="38221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data agreement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777240"/>
            <a:ext cx="26974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777240"/>
            <a:ext cx="269748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7772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(Future)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63640" y="135331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Deployment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63640" y="1682496"/>
            <a:ext cx="1828800" cy="23774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16824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1928" y="2084832"/>
            <a:ext cx="164592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4" name="Text 42"/>
          <p:cNvSpPr/>
          <p:nvPr/>
        </p:nvSpPr>
        <p:spPr>
          <a:xfrm>
            <a:off x="6519672" y="19933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 / ethics approval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81928" y="2542032"/>
            <a:ext cx="164592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6" name="Text 44"/>
          <p:cNvSpPr/>
          <p:nvPr/>
        </p:nvSpPr>
        <p:spPr>
          <a:xfrm>
            <a:off x="6519672" y="24505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 cohort (n &gt;= 30)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81928" y="2999232"/>
            <a:ext cx="164592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8" name="Text 46"/>
          <p:cNvSpPr/>
          <p:nvPr/>
        </p:nvSpPr>
        <p:spPr>
          <a:xfrm>
            <a:off x="6519672" y="2907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monitoring study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81928" y="3456432"/>
            <a:ext cx="164592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0" name="Text 48"/>
          <p:cNvSpPr/>
          <p:nvPr/>
        </p:nvSpPr>
        <p:spPr>
          <a:xfrm>
            <a:off x="6519672" y="33649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outcome linkage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81928" y="3913632"/>
            <a:ext cx="164592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2" name="Text 50"/>
          <p:cNvSpPr/>
          <p:nvPr/>
        </p:nvSpPr>
        <p:spPr>
          <a:xfrm>
            <a:off x="6519672" y="38221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pathway (MDR/FDA)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PAEMDT is at Stage 1 (complete) and Stage 2 (partial). Stage 3 requires ethics approval, clinical partnerships, and regulatory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Honest Assessment of Current Constraints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64008" cy="1207008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8595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train-test split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152144"/>
            <a:ext cx="914400" cy="201168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1521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Medium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389888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RAVDESS split, not k-fold cross-validated. Reported accuracy may be split-dependent.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64008" cy="1207008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8595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Acted-emotion corpora only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64608" y="1152144"/>
            <a:ext cx="914400" cy="201168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11521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High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64608" y="1389888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RAVDESS and CREMA-D use professional actors, not real patients with cognitive impairment. Ecological validity unestablished.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148840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148840"/>
            <a:ext cx="64008" cy="1207008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2203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deployment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" y="2496312"/>
            <a:ext cx="914400" cy="201168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24963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273405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has never been tested with real patients in a care setting. Clinical safety properties are unverified in practice.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148840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148840"/>
            <a:ext cx="64008" cy="1207008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25" name="Text 23"/>
          <p:cNvSpPr/>
          <p:nvPr/>
        </p:nvSpPr>
        <p:spPr>
          <a:xfrm>
            <a:off x="4864608" y="2203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digital twin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64608" y="2496312"/>
            <a:ext cx="914400" cy="201168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24963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Medium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64608" y="273405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engine uses synthetic patient models, not real longitudinal patient data. Fidelity to real patient trajectories unknown.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493008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493008"/>
            <a:ext cx="64008" cy="1207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3547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guarantees are theoretical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" y="3840480"/>
            <a:ext cx="914400" cy="20116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" y="38404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Low-Medium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" y="407822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k-anonymity and DP analysed analytically; no adversarial re-identification attack conducted empirically.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493008"/>
            <a:ext cx="41148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493008"/>
            <a:ext cx="64008" cy="1207008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7" name="Text 35"/>
          <p:cNvSpPr/>
          <p:nvPr/>
        </p:nvSpPr>
        <p:spPr>
          <a:xfrm>
            <a:off x="4864608" y="3547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Audio-only experiments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64608" y="3840480"/>
            <a:ext cx="914400" cy="201168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9" name="Text 37"/>
          <p:cNvSpPr/>
          <p:nvPr/>
        </p:nvSpPr>
        <p:spPr>
          <a:xfrm>
            <a:off x="4864608" y="38404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High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64608" y="407822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experiments use audio features only. Full audio-video fusion pipeline is architecturally specified but not yet experimentally validated.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931920" cy="3657600"/>
          </a:xfrm>
          <a:prstGeom prst="rect">
            <a:avLst/>
          </a:prstGeom>
          <a:solidFill>
            <a:srgbClr val="1B285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229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Contributions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" y="1289304"/>
            <a:ext cx="164592" cy="16459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18872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Five-zone privacy-first architecture: co-designed perception, DT, XAI, HITL, privacy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1901952"/>
            <a:ext cx="164592" cy="16459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801368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quantified: SVM -33pp, all classifiers RR &gt; 1.4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2514600"/>
            <a:ext cx="164592" cy="16459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414016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(ECE) linked to HITL safety routing thresholds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" y="3127248"/>
            <a:ext cx="164592" cy="16459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3026664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Privacy-utility-latency trade-off: -3% acc, +18ms for full stack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" y="3739896"/>
            <a:ext cx="164592" cy="16459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363931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validation roadmap from benchmark to clinical deployment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777240"/>
            <a:ext cx="4297680" cy="3657600"/>
          </a:xfrm>
          <a:prstGeom prst="rect">
            <a:avLst/>
          </a:prstGeom>
          <a:solidFill>
            <a:srgbClr val="1B285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82296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36008" y="1289304"/>
            <a:ext cx="228600" cy="7315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11887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audio-video cross-attention fusion experiments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36008" y="1810512"/>
            <a:ext cx="228600" cy="7315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17099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 to reduce split variance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36008" y="2331720"/>
            <a:ext cx="228600" cy="7315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223113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 pilot study (n &gt;= 10)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36008" y="2852928"/>
            <a:ext cx="228600" cy="7315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5" name="Text 23"/>
          <p:cNvSpPr/>
          <p:nvPr/>
        </p:nvSpPr>
        <p:spPr>
          <a:xfrm>
            <a:off x="4919472" y="275234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privacy auditing (re-identification tests)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36008" y="3374136"/>
            <a:ext cx="228600" cy="7315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32735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explanation quality evaluation with clinical raters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36008" y="3895344"/>
            <a:ext cx="228600" cy="7315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9" name="Text 27"/>
          <p:cNvSpPr/>
          <p:nvPr/>
        </p:nvSpPr>
        <p:spPr>
          <a:xfrm>
            <a:off x="4919472" y="37947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multi-site training with hospital partners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59028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PAEMDT demonstrates that trustworthy SAR deployment requires more than accuracy — it demands robustness, calibration, explainability, HITL safety, and privacy, validated in stages.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PAEMDT Framework</dc:title>
  <dc:subject>PptxGenJS Presentation</dc:subject>
  <dc:creator>M. Asim Amin</dc:creator>
  <cp:lastModifiedBy>M. Asim Amin</cp:lastModifiedBy>
  <cp:revision>1</cp:revision>
  <dcterms:created xsi:type="dcterms:W3CDTF">2026-06-03T16:51:05Z</dcterms:created>
  <dcterms:modified xsi:type="dcterms:W3CDTF">2026-06-03T16:51:05Z</dcterms:modified>
</cp:coreProperties>
</file>